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072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4592"/>
            <a:ext cx="109728" cy="480974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320040"/>
            <a:ext cx="320040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320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BECE309L  |  AI &amp; ML Course Project  |  VIT University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Edge-AI Motor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Detection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System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35204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Patent-Ready Implementation on ESP32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OneClassSVM  ·  Mahalanobis  ·  Physics Validation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Sensors  ·  7 Fault Types  ·  10 Patent Claims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457200"/>
            <a:ext cx="3017520" cy="4389120"/>
          </a:xfrm>
          <a:prstGeom prst="rect">
            <a:avLst/>
          </a:prstGeom>
          <a:solidFill>
            <a:srgbClr val="0D2B5E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640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995160" y="640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170432"/>
            <a:ext cx="2743200" cy="0"/>
          </a:xfrm>
          <a:prstGeom prst="line">
            <a:avLst/>
          </a:prstGeom>
          <a:noFill/>
          <a:ln w="635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9516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Recall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7 Types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993392"/>
            <a:ext cx="2743200" cy="0"/>
          </a:xfrm>
          <a:prstGeom prst="line">
            <a:avLst/>
          </a:prstGeom>
          <a:noFill/>
          <a:ln w="635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286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951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2816352"/>
            <a:ext cx="2743200" cy="0"/>
          </a:xfrm>
          <a:prstGeom prst="line">
            <a:avLst/>
          </a:prstGeom>
          <a:noFill/>
          <a:ln w="635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3108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9516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Claims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3639312"/>
            <a:ext cx="2743200" cy="0"/>
          </a:xfrm>
          <a:prstGeom prst="line">
            <a:avLst/>
          </a:prstGeom>
          <a:noFill/>
          <a:ln w="635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3931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₹2K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9516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01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Edge-AI Motor Fault Detection &amp; Self-Healing System  |  BECE309L  |  VIT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901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88720" y="1188720"/>
            <a:ext cx="457200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188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1920240"/>
            <a:ext cx="457200" cy="5486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Block Diagram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88720" y="2651760"/>
            <a:ext cx="457200" cy="5486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651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Hardware &amp; Acquisition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88720" y="3383280"/>
            <a:ext cx="457200" cy="5486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Edge-AI Inference Pipeline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57200" cy="5486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188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Training — Google Colab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920240"/>
            <a:ext cx="457200" cy="5486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Results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651760"/>
            <a:ext cx="457200" cy="54864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651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Claims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383280"/>
            <a:ext cx="457200" cy="548640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&amp; SDG Mapping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4114800"/>
            <a:ext cx="457200" cy="548640"/>
          </a:xfrm>
          <a:prstGeom prst="rect">
            <a:avLst/>
          </a:prstGeom>
          <a:solidFill>
            <a:srgbClr val="424242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4114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need a better motor protection system?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Edge-AI Motor Fault Detection &amp; Self-Healing System  |  BECE309L  |  VIT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320040" cy="34747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6002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6184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Motors consume 40-50% of all global electricity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67128"/>
            <a:ext cx="320040" cy="34747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1671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1854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motor trip can cost ₹5L–₹5Cr per hour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734056"/>
            <a:ext cx="320040" cy="34747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7340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7523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relays detect only overcurrent / overtemp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00984"/>
            <a:ext cx="320040" cy="34747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30098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3192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ML adds 50-500ms latency + privacy risk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867912"/>
            <a:ext cx="320040" cy="34747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8679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3886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IEDs cost ₹30,000–₹5,00,000 per unit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600200"/>
            <a:ext cx="320040" cy="34747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6002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66360" y="16184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4-sensor multi-modal fault detection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2167128"/>
            <a:ext cx="320040" cy="34747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1671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66360" y="21854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Edge-AI: 0ms cloud latency, full privacy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2734056"/>
            <a:ext cx="320040" cy="34747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7340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66360" y="27523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fault types detected at 100% recall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300984"/>
            <a:ext cx="320040" cy="34747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30098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66360" y="33192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Self-healing: auto-restart, speed reduction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3867912"/>
            <a:ext cx="320040" cy="34747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8679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66360" y="3886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BOM cost: under ₹2,000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— 5-Layer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signal flow from physical plant to actuation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Edge-AI Motor Fault Detection &amp; Self-Healing System  |  BECE309L  |  VIT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097280"/>
            <a:ext cx="8778240" cy="201168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09728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 — PHYSICAL PLANT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316736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3167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DC/BLDC Motor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31720" y="1316736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3167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Rotating Shaft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1316736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3167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Electronics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37960" y="1316736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3167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Load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1810512"/>
            <a:ext cx="8778240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" y="181051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— MULTI-SENSOR ACQUISITION  (Claim 1)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029968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0299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Speed Sensor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34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31720" y="2029968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20299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ACS712 Current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35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34840" y="2029968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20299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MPU6050 Vibration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I2C 21/22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37960" y="2029968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0299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DS18B20 Temp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4 OneWire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2523744"/>
            <a:ext cx="8778240" cy="2011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252374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— EDGE-AI INFERENCE  (Claims 2, 3, 8)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2743200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743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OneClassSVM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micromlgen C model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31720" y="2743200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2743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Mahalanobis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4840" y="2743200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2743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37960" y="2743200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2743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Score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" y="3236976"/>
            <a:ext cx="8778240" cy="201168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9" name="Text 37"/>
          <p:cNvSpPr/>
          <p:nvPr/>
        </p:nvSpPr>
        <p:spPr>
          <a:xfrm>
            <a:off x="182880" y="323697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— FAULT CLASSIFICATION &amp; ACTUATION  (Claims 4, 5, 9)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3456432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34564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 0: Full Speed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331720" y="3456432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31720" y="34564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 1: Log+Alert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34840" y="3456432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34840" y="34564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 2: 50% Speed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37960" y="3456432"/>
            <a:ext cx="201168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34564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 3: Emergency Stop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82880" y="3950208"/>
            <a:ext cx="8778240" cy="201168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49" name="Text 47"/>
          <p:cNvSpPr/>
          <p:nvPr/>
        </p:nvSpPr>
        <p:spPr>
          <a:xfrm>
            <a:off x="182880" y="395020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 — PERSISTENCE &amp; ADAPTATION  (Claims 6, 7)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28600" y="4169664"/>
            <a:ext cx="420624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416966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EEPROM Fault Log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records ring buffer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26280" y="4169664"/>
            <a:ext cx="420624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26280" y="416966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Adaptive Baseline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α=0.05, N=100 cycles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Platform — 4-Sensor ESP32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1: Multi-modal physical sensor acquisition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Edge-AI Motor Fault Detection &amp; Self-Healing System  |  BECE309L  |  VIT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143000"/>
            <a:ext cx="4206240" cy="1691640"/>
          </a:xfrm>
          <a:prstGeom prst="rect">
            <a:avLst/>
          </a:prstGeom>
          <a:solidFill>
            <a:srgbClr val="EBF5FB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143000"/>
            <a:ext cx="4206240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11430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Speed Sensor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1527048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34
</a:t>
            </a: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RPM
</a:t>
            </a: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RPM = Pulses × 60000/Δt
</a:t>
            </a: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Stall, Overspeed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4206240" cy="1691640"/>
          </a:xfrm>
          <a:prstGeom prst="rect">
            <a:avLst/>
          </a:prstGeom>
          <a:solidFill>
            <a:srgbClr val="E8F5E9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143000"/>
            <a:ext cx="4206240" cy="32918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1430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ACS712-30A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527048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35 (ADC1)
</a:t>
            </a: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(A)
</a:t>
            </a: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= |Vadc−1.65| / 0.066
</a:t>
            </a: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Overcurrent, Phase Loss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2971800"/>
            <a:ext cx="4206240" cy="1691640"/>
          </a:xfrm>
          <a:prstGeom prst="rect">
            <a:avLst/>
          </a:prstGeom>
          <a:solidFill>
            <a:srgbClr val="F3E5F5"/>
          </a:solidFill>
          <a:ln w="25400">
            <a:solidFill>
              <a:srgbClr val="7B1F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971800"/>
            <a:ext cx="4206240" cy="32918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" y="29718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MPU6050 IMU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355848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I2C SDA=21 SCL=22
</a:t>
            </a: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 (g RMS)
</a:t>
            </a: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 = √(Σ(|a|−1)²/N)
</a:t>
            </a:r>
            <a:r>
              <a:rPr lang="en-US" sz="11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Bearing Wear, Imbalance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2971800"/>
            <a:ext cx="4206240" cy="169164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971800"/>
            <a:ext cx="4206240" cy="32918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9718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DS18B20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355848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4 (OneWire)
</a:t>
            </a: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(°C)
</a:t>
            </a:r>
            <a:r>
              <a:rPr lang="en-US" sz="11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12-bit, 0.0625°C res.
</a:t>
            </a: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Detects: </a:t>
            </a: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Overload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Edge-AI Inference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2, 3, 8: Three-layer anomaly detection — entirely on ESP32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Edge-AI Motor Fault Detection &amp; Self-Healing System  |  BECE309L  |  VIT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143000"/>
            <a:ext cx="1600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143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Input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618488"/>
            <a:ext cx="1600200" cy="1417320"/>
          </a:xfrm>
          <a:prstGeom prst="rect">
            <a:avLst/>
          </a:prstGeom>
          <a:solidFill>
            <a:srgbClr val="EBF5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6459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(x−μ)/σ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constants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Colab training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01368" y="17373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947672" y="1143000"/>
            <a:ext cx="1600200" cy="4572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4" name="Text 12"/>
          <p:cNvSpPr/>
          <p:nvPr/>
        </p:nvSpPr>
        <p:spPr>
          <a:xfrm>
            <a:off x="1947672" y="1143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OneClassSVM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47672" y="1618488"/>
            <a:ext cx="1600200" cy="1417320"/>
          </a:xfrm>
          <a:prstGeom prst="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16459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RBF kernel model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micromlgen C header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~0.8ms inference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66160" y="17373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12464" y="1143000"/>
            <a:ext cx="1600200" cy="4572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9" name="Text 17"/>
          <p:cNvSpPr/>
          <p:nvPr/>
        </p:nvSpPr>
        <p:spPr>
          <a:xfrm>
            <a:off x="3712464" y="1143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Mahalanobis Dist.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12464" y="1618488"/>
            <a:ext cx="1600200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16459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χ²(0.995, df=4)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= 3.8549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Covariance envelope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30952" y="17373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77256" y="1143000"/>
            <a:ext cx="1600200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4" name="Text 22"/>
          <p:cNvSpPr/>
          <p:nvPr/>
        </p:nvSpPr>
        <p:spPr>
          <a:xfrm>
            <a:off x="5477256" y="1143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Validation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77256" y="1618488"/>
            <a:ext cx="1600200" cy="1417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77256" y="16459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cross-sensor rules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0.5–1.0×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sensor noise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95744" y="17373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242048" y="1143000"/>
            <a:ext cx="1600200" cy="4572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9" name="Text 27"/>
          <p:cNvSpPr/>
          <p:nvPr/>
        </p:nvSpPr>
        <p:spPr>
          <a:xfrm>
            <a:off x="7242048" y="1143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Fusion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42048" y="1618488"/>
            <a:ext cx="1600200" cy="141732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2048" y="16459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0.35·Vib + 0.30·Cur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+0.20·RPM+0.15·Temp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∈ [0.0, 1.0]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" y="3154680"/>
            <a:ext cx="8778240" cy="25603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315468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THRESHOLDS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3447288"/>
            <a:ext cx="2011680" cy="1234440"/>
          </a:xfrm>
          <a:prstGeom prst="rect">
            <a:avLst/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3447288"/>
            <a:ext cx="2011680" cy="274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6" name="Text 34"/>
          <p:cNvSpPr/>
          <p:nvPr/>
        </p:nvSpPr>
        <p:spPr>
          <a:xfrm>
            <a:off x="22860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8600" y="373989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Score &lt; 0.25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speed, update baseline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04872" y="3447288"/>
            <a:ext cx="2011680" cy="1234440"/>
          </a:xfrm>
          <a:prstGeom prst="rect">
            <a:avLst/>
          </a:prstGeom>
          <a:solidFill>
            <a:srgbClr val="F8F9FA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04872" y="3447288"/>
            <a:ext cx="2011680" cy="274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0" name="Text 38"/>
          <p:cNvSpPr/>
          <p:nvPr/>
        </p:nvSpPr>
        <p:spPr>
          <a:xfrm>
            <a:off x="2404872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404872" y="373989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0.25 – 0.50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event, blink LED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81144" y="3447288"/>
            <a:ext cx="2011680" cy="1234440"/>
          </a:xfrm>
          <a:prstGeom prst="rect">
            <a:avLst/>
          </a:prstGeom>
          <a:solidFill>
            <a:srgbClr val="F8F9FA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81144" y="3447288"/>
            <a:ext cx="2011680" cy="274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4" name="Text 42"/>
          <p:cNvSpPr/>
          <p:nvPr/>
        </p:nvSpPr>
        <p:spPr>
          <a:xfrm>
            <a:off x="4581144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81144" y="373989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0.50 – 0.75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speed to 50%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57416" y="3447288"/>
            <a:ext cx="2011680" cy="1234440"/>
          </a:xfrm>
          <a:prstGeom prst="rect">
            <a:avLst/>
          </a:prstGeom>
          <a:solidFill>
            <a:srgbClr val="F8F9FA"/>
          </a:solidFill>
          <a:ln w="25400">
            <a:solidFill>
              <a:srgbClr val="B71C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57416" y="3447288"/>
            <a:ext cx="2011680" cy="2743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8" name="Text 46"/>
          <p:cNvSpPr/>
          <p:nvPr/>
        </p:nvSpPr>
        <p:spPr>
          <a:xfrm>
            <a:off x="6757416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57416" y="373989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&gt; 0.75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→ cool-down → restart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Classification — Claim 4: Explainable Sensor-Rule Mapping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955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fault types, each traceable to a specific hardware sensor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Edge-AI Motor Fault Detection &amp; Self-Healing System  |  BECE309L  |  VIT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143000"/>
            <a:ext cx="731520" cy="34747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1430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78408" y="1143000"/>
            <a:ext cx="1371600" cy="34747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11430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Type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68296" y="1143000"/>
            <a:ext cx="1280160" cy="34747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Text 11"/>
          <p:cNvSpPr/>
          <p:nvPr/>
        </p:nvSpPr>
        <p:spPr>
          <a:xfrm>
            <a:off x="2368296" y="1143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Sensor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66744" y="1143000"/>
            <a:ext cx="2377440" cy="34747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5" name="Text 13"/>
          <p:cNvSpPr/>
          <p:nvPr/>
        </p:nvSpPr>
        <p:spPr>
          <a:xfrm>
            <a:off x="3666744" y="1143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Rule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62472" y="1143000"/>
            <a:ext cx="1280160" cy="34747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Text 15"/>
          <p:cNvSpPr/>
          <p:nvPr/>
        </p:nvSpPr>
        <p:spPr>
          <a:xfrm>
            <a:off x="6062472" y="1143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60920" y="1143000"/>
            <a:ext cx="1645920" cy="34747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11430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1517904"/>
            <a:ext cx="731520" cy="438912"/>
          </a:xfrm>
          <a:prstGeom prst="rect">
            <a:avLst/>
          </a:prstGeom>
          <a:solidFill>
            <a:srgbClr val="B71C1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51790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78408" y="1517904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15179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68296" y="1517904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68296" y="15179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Sensor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66744" y="1517904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66744" y="15179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RPM &lt; 50 while running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62472" y="1517904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2472" y="15179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Emergency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60920" y="1517904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15179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→ Restart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" y="1975104"/>
            <a:ext cx="731520" cy="438912"/>
          </a:xfrm>
          <a:prstGeom prst="rect">
            <a:avLst/>
          </a:prstGeom>
          <a:solidFill>
            <a:srgbClr val="E651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197510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78408" y="1975104"/>
            <a:ext cx="13716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8408" y="19751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Overspeed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368296" y="1975104"/>
            <a:ext cx="1280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68296" y="19751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Sensor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66744" y="1975104"/>
            <a:ext cx="237744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66744" y="19751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RPM &gt; 2400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62472" y="1975104"/>
            <a:ext cx="1280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62472" y="19751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Critical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360920" y="1975104"/>
            <a:ext cx="164592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60920" y="19751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Speed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28600" y="2432304"/>
            <a:ext cx="731520" cy="438912"/>
          </a:xfrm>
          <a:prstGeom prst="rect">
            <a:avLst/>
          </a:prstGeom>
          <a:solidFill>
            <a:srgbClr val="B71C1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243230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0x04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78408" y="2432304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8408" y="24323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Overcurrent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368296" y="2432304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68296" y="24323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ACS712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666744" y="2432304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66744" y="24323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&gt; 12A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062472" y="2432304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24323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Emergency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360920" y="2432304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60920" y="24323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→ Restart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28600" y="2889504"/>
            <a:ext cx="731520" cy="438912"/>
          </a:xfrm>
          <a:prstGeom prst="rect">
            <a:avLst/>
          </a:prstGeom>
          <a:solidFill>
            <a:srgbClr val="E651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8600" y="288950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0x08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78408" y="2889504"/>
            <a:ext cx="13716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8408" y="28895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Loss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368296" y="2889504"/>
            <a:ext cx="1280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68296" y="28895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ACS712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666744" y="2889504"/>
            <a:ext cx="237744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66744" y="28895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&lt; 0.4A when spinning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062472" y="2889504"/>
            <a:ext cx="1280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62472" y="28895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Critical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360920" y="2889504"/>
            <a:ext cx="164592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60920" y="28895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Speed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28600" y="3346704"/>
            <a:ext cx="731520" cy="438912"/>
          </a:xfrm>
          <a:prstGeom prst="rect">
            <a:avLst/>
          </a:prstGeom>
          <a:solidFill>
            <a:srgbClr val="7B1FA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" y="334670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0x10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978408" y="3346704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8408" y="33467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Bearing Wear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368296" y="3346704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68296" y="33467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MPU6050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666744" y="3346704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66744" y="33467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 RMS &gt; 0.80g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062472" y="3346704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62472" y="33467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Critical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7360920" y="3346704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60920" y="33467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Speed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228600" y="3803904"/>
            <a:ext cx="731520" cy="438912"/>
          </a:xfrm>
          <a:prstGeom prst="rect">
            <a:avLst/>
          </a:prstGeom>
          <a:solidFill>
            <a:srgbClr val="E651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8600" y="380390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0x20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978408" y="3803904"/>
            <a:ext cx="13716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8408" y="38039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Overload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2368296" y="3803904"/>
            <a:ext cx="1280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368296" y="38039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DS18B20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3666744" y="3803904"/>
            <a:ext cx="237744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66744" y="38039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&gt; 65°C warn / 80°C stop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062472" y="3803904"/>
            <a:ext cx="1280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062472" y="38039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7360920" y="3803904"/>
            <a:ext cx="164592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60920" y="38039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Reduce/STOP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228600" y="4261104"/>
            <a:ext cx="731520" cy="438912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28600" y="426110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0x40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978408" y="4261104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78408" y="42611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Anomaly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2368296" y="4261104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368296" y="42611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3666744" y="4261104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666744" y="42611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OneClassSVM output = −1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6062472" y="4261104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062472" y="42611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Warning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7360920" y="4261104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360920" y="42611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+ Alert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34" y="0"/>
            <a:ext cx="9144000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Baseline + EEPROM Logging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6, 7: Self-calibration and persistent fault memory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Edge-AI Motor Fault Detection &amp; Self-Healing System  |  BECE309L  |  VIT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143000"/>
            <a:ext cx="420624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143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7 — Adaptive EMA Baseline (α = 0.05)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1527048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baseline_new = (1−α) × baseline_old + α × reading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every 100 normal cycles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0.05 → slow, stable tracking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Compensates for motor aging, load drift,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bearing wear, temperature seasonal change</a:t>
            </a:r>
            <a:endParaRPr lang="en-US" sz="1150" dirty="0"/>
          </a:p>
        </p:txBody>
      </p:sp>
      <p:pic>
        <p:nvPicPr>
          <p:cNvPr id="11" name="Image 0" descr="/home/claude/pic1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429000"/>
            <a:ext cx="4206240" cy="1325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754880" y="1143000"/>
            <a:ext cx="4206240" cy="347472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1143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6 — EEPROM Persistent Fault Logging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1527048"/>
            <a:ext cx="1463040" cy="365760"/>
          </a:xfrm>
          <a:prstGeom prst="rect">
            <a:avLst/>
          </a:prstGeom>
          <a:solidFill>
            <a:srgbClr val="EFEBE9"/>
          </a:solidFill>
          <a:ln w="6350">
            <a:solidFill>
              <a:srgbClr val="4E34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36208" y="1527048"/>
            <a:ext cx="658368" cy="365760"/>
          </a:xfrm>
          <a:prstGeom prst="rect">
            <a:avLst/>
          </a:prstGeom>
          <a:solidFill>
            <a:srgbClr val="D7CCC8"/>
          </a:solidFill>
          <a:ln w="6350">
            <a:solidFill>
              <a:srgbClr val="4E34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12864" y="1527048"/>
            <a:ext cx="2029968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1527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timestamp_s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36208" y="152704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bytes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931152" y="152704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 seconds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54880" y="1929384"/>
            <a:ext cx="1463040" cy="365760"/>
          </a:xfrm>
          <a:prstGeom prst="rect">
            <a:avLst/>
          </a:prstGeom>
          <a:solidFill>
            <a:srgbClr val="EFEBE9"/>
          </a:solidFill>
          <a:ln w="6350">
            <a:solidFill>
              <a:srgbClr val="4E342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36208" y="1929384"/>
            <a:ext cx="658368" cy="365760"/>
          </a:xfrm>
          <a:prstGeom prst="rect">
            <a:avLst/>
          </a:prstGeom>
          <a:solidFill>
            <a:srgbClr val="D7CCC8"/>
          </a:solidFill>
          <a:ln w="6350">
            <a:solidFill>
              <a:srgbClr val="4E342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12864" y="1929384"/>
            <a:ext cx="2029968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19293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fault_code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236208" y="1929384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byte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931152" y="192938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Bitmask of active faults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54880" y="2331720"/>
            <a:ext cx="1463040" cy="365760"/>
          </a:xfrm>
          <a:prstGeom prst="rect">
            <a:avLst/>
          </a:prstGeom>
          <a:solidFill>
            <a:srgbClr val="EFEBE9"/>
          </a:solidFill>
          <a:ln w="6350">
            <a:solidFill>
              <a:srgbClr val="4E342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36208" y="2331720"/>
            <a:ext cx="658368" cy="365760"/>
          </a:xfrm>
          <a:prstGeom prst="rect">
            <a:avLst/>
          </a:prstGeom>
          <a:solidFill>
            <a:srgbClr val="D7CCC8"/>
          </a:solidFill>
          <a:ln w="6350">
            <a:solidFill>
              <a:srgbClr val="4E342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912864" y="2331720"/>
            <a:ext cx="2029968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236208" y="23317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byte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931152" y="23317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0–3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754880" y="2734056"/>
            <a:ext cx="1463040" cy="365760"/>
          </a:xfrm>
          <a:prstGeom prst="rect">
            <a:avLst/>
          </a:prstGeom>
          <a:solidFill>
            <a:srgbClr val="EFEBE9"/>
          </a:solidFill>
          <a:ln w="6350">
            <a:solidFill>
              <a:srgbClr val="4E342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36208" y="2734056"/>
            <a:ext cx="658368" cy="365760"/>
          </a:xfrm>
          <a:prstGeom prst="rect">
            <a:avLst/>
          </a:prstGeom>
          <a:solidFill>
            <a:srgbClr val="D7CCC8"/>
          </a:solidFill>
          <a:ln w="6350">
            <a:solidFill>
              <a:srgbClr val="4E342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912864" y="2734056"/>
            <a:ext cx="2029968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54880" y="27340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236208" y="2734056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bytes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931152" y="273405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score float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754880" y="3136392"/>
            <a:ext cx="1463040" cy="365760"/>
          </a:xfrm>
          <a:prstGeom prst="rect">
            <a:avLst/>
          </a:prstGeom>
          <a:solidFill>
            <a:srgbClr val="EFEBE9"/>
          </a:solidFill>
          <a:ln w="6350">
            <a:solidFill>
              <a:srgbClr val="4E342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36208" y="3136392"/>
            <a:ext cx="658368" cy="365760"/>
          </a:xfrm>
          <a:prstGeom prst="rect">
            <a:avLst/>
          </a:prstGeom>
          <a:solidFill>
            <a:srgbClr val="D7CCC8"/>
          </a:solidFill>
          <a:ln w="6350">
            <a:solidFill>
              <a:srgbClr val="4E342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912864" y="3136392"/>
            <a:ext cx="2029968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54880" y="31363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rpm_at_fault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236208" y="313639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bytes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931152" y="313639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RPM snapshot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754880" y="3538728"/>
            <a:ext cx="1463040" cy="365760"/>
          </a:xfrm>
          <a:prstGeom prst="rect">
            <a:avLst/>
          </a:prstGeom>
          <a:solidFill>
            <a:srgbClr val="EFEBE9"/>
          </a:solidFill>
          <a:ln w="6350">
            <a:solidFill>
              <a:srgbClr val="4E342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236208" y="3538728"/>
            <a:ext cx="658368" cy="365760"/>
          </a:xfrm>
          <a:prstGeom prst="rect">
            <a:avLst/>
          </a:prstGeom>
          <a:solidFill>
            <a:srgbClr val="D7CCC8"/>
          </a:solidFill>
          <a:ln w="6350">
            <a:solidFill>
              <a:srgbClr val="4E342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912864" y="3538728"/>
            <a:ext cx="2029968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54880" y="35387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action_taken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6236208" y="353872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byte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931152" y="35387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0=none…3=restart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754880" y="3941064"/>
            <a:ext cx="1463040" cy="365760"/>
          </a:xfrm>
          <a:prstGeom prst="rect">
            <a:avLst/>
          </a:prstGeom>
          <a:solidFill>
            <a:srgbClr val="EFEBE9"/>
          </a:solidFill>
          <a:ln w="6350">
            <a:solidFill>
              <a:srgbClr val="4E342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236208" y="3941064"/>
            <a:ext cx="658368" cy="365760"/>
          </a:xfrm>
          <a:prstGeom prst="rect">
            <a:avLst/>
          </a:prstGeom>
          <a:solidFill>
            <a:srgbClr val="D7CCC8"/>
          </a:solidFill>
          <a:ln w="6350">
            <a:solidFill>
              <a:srgbClr val="4E342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912864" y="3941064"/>
            <a:ext cx="2029968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754880" y="39410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recovery_ok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6236208" y="3941064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byte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6931152" y="394106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1=recovered, 0=manual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4754880" y="4343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buffer: 20 records max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on every power-on boot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Training — Google Colab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4050-sample synthetic dataset → 3 trained models → C header files for ESP32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Edge-AI Motor Fault Detection &amp; Self-Healing System  |  BECE309L  |  VIT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17</a:t>
            </a:r>
            <a:endParaRPr lang="en-US" sz="900" dirty="0"/>
          </a:p>
        </p:txBody>
      </p:sp>
      <p:pic>
        <p:nvPicPr>
          <p:cNvPr id="8" name="Image 0" descr="/home/claude/dataset_stat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43000"/>
            <a:ext cx="4206240" cy="1417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1143000"/>
            <a:ext cx="6858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0" y="11430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67528" y="1143000"/>
            <a:ext cx="3593592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libraries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63440" y="1655064"/>
            <a:ext cx="6858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165506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67528" y="1655064"/>
            <a:ext cx="3593592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16550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4050-sample dataset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fault types × 150 samples + 3000 normal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63440" y="2167128"/>
            <a:ext cx="685800" cy="4572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5"/>
          <p:cNvSpPr/>
          <p:nvPr/>
        </p:nvSpPr>
        <p:spPr>
          <a:xfrm>
            <a:off x="4663440" y="21671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5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367528" y="2167128"/>
            <a:ext cx="3593592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94960" y="2167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→ export #define constants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63440" y="2679192"/>
            <a:ext cx="685800" cy="4572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19"/>
          <p:cNvSpPr/>
          <p:nvPr/>
        </p:nvSpPr>
        <p:spPr>
          <a:xfrm>
            <a:off x="4663440" y="267919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6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67528" y="2679192"/>
            <a:ext cx="3593592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94960" y="26791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OneClassSVM → micromlgen → one_class_svm_model.h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663440" y="3191256"/>
            <a:ext cx="685800" cy="4572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6" name="Text 23"/>
          <p:cNvSpPr/>
          <p:nvPr/>
        </p:nvSpPr>
        <p:spPr>
          <a:xfrm>
            <a:off x="4663440" y="319125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7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367528" y="3191256"/>
            <a:ext cx="3593592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94960" y="31912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 4→8→4→2→4→8→4 → TFLite INT8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63440" y="3703320"/>
            <a:ext cx="685800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0" name="Text 27"/>
          <p:cNvSpPr/>
          <p:nvPr/>
        </p:nvSpPr>
        <p:spPr>
          <a:xfrm>
            <a:off x="4663440" y="37033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8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367528" y="3703320"/>
            <a:ext cx="3593592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9496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Mahalanobis → chi-sq threshold 3.8549 → mahal_model.h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663440" y="4215384"/>
            <a:ext cx="685800" cy="4572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4" name="Text 31"/>
          <p:cNvSpPr/>
          <p:nvPr/>
        </p:nvSpPr>
        <p:spPr>
          <a:xfrm>
            <a:off x="4663440" y="421538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9-12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367528" y="4215384"/>
            <a:ext cx="3593592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94960" y="42153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fusion → ROC curves → weight sensitivity</a:t>
            </a:r>
            <a:endParaRPr lang="en-US" sz="950" dirty="0"/>
          </a:p>
        </p:txBody>
      </p:sp>
      <p:pic>
        <p:nvPicPr>
          <p:cNvPr id="37" name="Image 1" descr="/home/claude/pic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2651760"/>
            <a:ext cx="42062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34" y="0"/>
            <a:ext cx="9144000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81354" y="731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81354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OneClassSVM achieves 98% accuracy with 100% recall on all fault types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34" y="4892040"/>
            <a:ext cx="9144000" cy="2514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189914" y="4901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Edge-AI Motor Fault Detection &amp; Self-Healing System  |  BECE309L  |  VIT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36634" y="4901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5634" y="1188720"/>
            <a:ext cx="1920240" cy="914400"/>
          </a:xfrm>
          <a:prstGeom prst="rect">
            <a:avLst/>
          </a:prstGeom>
          <a:solidFill>
            <a:srgbClr val="EBF5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634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5634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93034" y="1188720"/>
            <a:ext cx="1920240" cy="914400"/>
          </a:xfrm>
          <a:prstGeom prst="rect">
            <a:avLst/>
          </a:prstGeom>
          <a:solidFill>
            <a:srgbClr val="EBF5FB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93034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293034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Recall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50434" y="1188720"/>
            <a:ext cx="1920240" cy="914400"/>
          </a:xfrm>
          <a:prstGeom prst="rect">
            <a:avLst/>
          </a:prstGeom>
          <a:solidFill>
            <a:srgbClr val="EBF5FB"/>
          </a:solidFill>
          <a:ln w="19050">
            <a:solidFill>
              <a:srgbClr val="7B1F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0434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50434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7834" y="1188720"/>
            <a:ext cx="1920240" cy="914400"/>
          </a:xfrm>
          <a:prstGeom prst="rect">
            <a:avLst/>
          </a:prstGeom>
          <a:solidFill>
            <a:srgbClr val="EBF5FB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7834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07834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 Rate</a:t>
            </a:r>
            <a:endParaRPr lang="en-US" sz="950" dirty="0"/>
          </a:p>
        </p:txBody>
      </p:sp>
      <p:pic>
        <p:nvPicPr>
          <p:cNvPr id="20" name="Image 0" descr="/home/claude/pic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14" y="2240280"/>
            <a:ext cx="4572000" cy="2423160"/>
          </a:xfrm>
          <a:prstGeom prst="rect">
            <a:avLst/>
          </a:prstGeom>
        </p:spPr>
      </p:pic>
      <p:pic>
        <p:nvPicPr>
          <p:cNvPr id="21" name="Image 1" descr="/home/claude/pic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354" y="2240280"/>
            <a:ext cx="4206240" cy="24231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89914" y="46817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OneClassSVM Classification Report (Colab Cell 6)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853354" y="46817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Mahalanobis Distance Report (Colab Cell 8)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Per-Fault Detection — 100% Across All 7 Types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missed fault — the core patent performance claim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Edge-AI Motor Fault Detection &amp; Self-Healing System  |  BECE309L  |  VIT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965960" cy="29260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88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99616"/>
            <a:ext cx="1965960" cy="1280160"/>
          </a:xfrm>
          <a:prstGeom prst="rect">
            <a:avLst/>
          </a:prstGeom>
          <a:solidFill>
            <a:srgbClr val="F8F9FA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591056"/>
            <a:ext cx="1691640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5727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4320" y="2148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/ 150 detected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23160" y="1188720"/>
            <a:ext cx="1965960" cy="2926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1188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Overspeed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23160" y="1499616"/>
            <a:ext cx="1965960" cy="1280160"/>
          </a:xfrm>
          <a:prstGeom prst="rect">
            <a:avLst/>
          </a:prstGeom>
          <a:solidFill>
            <a:srgbClr val="F8F9FA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1591056"/>
            <a:ext cx="1691640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2423160" y="15727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423160" y="2148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/ 150 detected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1188720"/>
            <a:ext cx="1965960" cy="29260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188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Overcurrent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499616"/>
            <a:ext cx="1965960" cy="1280160"/>
          </a:xfrm>
          <a:prstGeom prst="rect">
            <a:avLst/>
          </a:prstGeom>
          <a:solidFill>
            <a:srgbClr val="F8F9FA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591056"/>
            <a:ext cx="1691640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15727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572000" y="2148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/ 150 detected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20840" y="1188720"/>
            <a:ext cx="1965960" cy="2926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1188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Loss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20840" y="1499616"/>
            <a:ext cx="1965960" cy="1280160"/>
          </a:xfrm>
          <a:prstGeom prst="rect">
            <a:avLst/>
          </a:prstGeom>
          <a:solidFill>
            <a:srgbClr val="F8F9FA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1591056"/>
            <a:ext cx="1691640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15727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720840" y="2148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/ 150 detected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200400"/>
            <a:ext cx="1965960" cy="292608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32004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Bearing Wear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511296"/>
            <a:ext cx="1965960" cy="1280160"/>
          </a:xfrm>
          <a:prstGeom prst="rect">
            <a:avLst/>
          </a:prstGeom>
          <a:solidFill>
            <a:srgbClr val="F8F9FA"/>
          </a:solidFill>
          <a:ln w="19050">
            <a:solidFill>
              <a:srgbClr val="7B1FA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3602736"/>
            <a:ext cx="1691640" cy="50292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5844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274320" y="4160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/ 150 detected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423160" y="3200400"/>
            <a:ext cx="1965960" cy="2926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9" name="Text 37"/>
          <p:cNvSpPr/>
          <p:nvPr/>
        </p:nvSpPr>
        <p:spPr>
          <a:xfrm>
            <a:off x="2423160" y="32004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423160" y="3511296"/>
            <a:ext cx="1965960" cy="1280160"/>
          </a:xfrm>
          <a:prstGeom prst="rect">
            <a:avLst/>
          </a:prstGeom>
          <a:solidFill>
            <a:srgbClr val="F8F9FA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0" y="3602736"/>
            <a:ext cx="1691640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2" name="Text 40"/>
          <p:cNvSpPr/>
          <p:nvPr/>
        </p:nvSpPr>
        <p:spPr>
          <a:xfrm>
            <a:off x="2423160" y="35844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2423160" y="4160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/ 150 detected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0" y="3200400"/>
            <a:ext cx="196596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0" y="32004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ML-Subtle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0" y="3511296"/>
            <a:ext cx="1965960" cy="1280160"/>
          </a:xfrm>
          <a:prstGeom prst="rect">
            <a:avLst/>
          </a:prstGeom>
          <a:solidFill>
            <a:srgbClr val="F8F9FA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3602736"/>
            <a:ext cx="169164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0" y="35844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4572000" y="4160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/ 150 detected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720840" y="3200400"/>
            <a:ext cx="1965960" cy="1600200"/>
          </a:xfrm>
          <a:prstGeom prst="rect">
            <a:avLst/>
          </a:prstGeom>
          <a:solidFill>
            <a:srgbClr val="E8F5E9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0840" y="320040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7 Types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Claims — All 10 Implemented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claim is traceable to a specific function in the ESP32 firmware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Edge-AI Motor Fault Detection &amp; Self-Healing System  |  BECE309L  |  VIT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143000"/>
            <a:ext cx="457200" cy="594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143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1143000"/>
            <a:ext cx="384048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Multi-sensor acquisition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readRPM/Current/Vibration/Temperature()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1865376"/>
            <a:ext cx="457200" cy="5943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186537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1865376"/>
            <a:ext cx="384048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865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Edge-only ML inference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1396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one_class_svm_model.h in ESP32 flash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2587752"/>
            <a:ext cx="457200" cy="59436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" y="258775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2587752"/>
            <a:ext cx="384048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587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fusion score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2862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W=0.35+0.30+0.20+0.15 → computeFusionScore()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3310128"/>
            <a:ext cx="457200" cy="5943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331012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8368" y="3310128"/>
            <a:ext cx="384048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fault classification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584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classifyFault() — 7 named sensor rules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4032504"/>
            <a:ext cx="457200" cy="59436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403250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58368" y="4032504"/>
            <a:ext cx="384048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032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Graduated corrective actuation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306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executeCorrectiveAction() sev 0/1/2/3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1143000"/>
            <a:ext cx="457200" cy="594360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1143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138928" y="1143000"/>
            <a:ext cx="384048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4E3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EEPROM logging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logFaultToEEPROM() FaultRecord ring buffer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1865376"/>
            <a:ext cx="457200" cy="5943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186537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138928" y="1865376"/>
            <a:ext cx="384048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1865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EMA baseline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21396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updateAdaptiveBaseline() α=0.05 N=100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2587752"/>
            <a:ext cx="457200" cy="5943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258775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138928" y="2587752"/>
            <a:ext cx="384048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0" y="2587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cross-sensor validation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2862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physicsValidationMultiplier() 4 rules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3310128"/>
            <a:ext cx="457200" cy="5943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9" name="Text 47"/>
          <p:cNvSpPr/>
          <p:nvPr/>
        </p:nvSpPr>
        <p:spPr>
          <a:xfrm>
            <a:off x="4663440" y="331012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138928" y="3310128"/>
            <a:ext cx="384048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0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thermal threshold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12080" y="3584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readTemperature() + thermal stop at 80°C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63440" y="4032504"/>
            <a:ext cx="457200" cy="5943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4" name="Text 52"/>
          <p:cNvSpPr/>
          <p:nvPr/>
        </p:nvSpPr>
        <p:spPr>
          <a:xfrm>
            <a:off x="4663440" y="403250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5138928" y="4032504"/>
            <a:ext cx="384048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2080" y="4032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recovery method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12080" y="4306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loop() — 8-step autonomous method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Runtime Performance &amp; Cost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hardware metrics vs. commercial alternatives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Edge-AI Motor Fault Detection &amp; Self-Healing System  |  BECE309L  |  VIT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143000"/>
            <a:ext cx="274320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143000"/>
            <a:ext cx="91440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1430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14300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Hz (500ms)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" y="1618488"/>
            <a:ext cx="274320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618488"/>
            <a:ext cx="91440" cy="43891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161848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Inference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161848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~0.8 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" y="2093976"/>
            <a:ext cx="274320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093976"/>
            <a:ext cx="91440" cy="43891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09397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EEPROM Write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209397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2880" y="2569464"/>
            <a:ext cx="274320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2569464"/>
            <a:ext cx="91440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25694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Usage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569464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~380 KB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2880" y="3044952"/>
            <a:ext cx="274320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044952"/>
            <a:ext cx="91440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30449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SRAM Used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304495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~42 KB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82880" y="3520440"/>
            <a:ext cx="274320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3520440"/>
            <a:ext cx="91440" cy="438912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35204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Log Capacity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352044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E3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records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82880" y="3995928"/>
            <a:ext cx="2743200" cy="438912"/>
          </a:xfrm>
          <a:prstGeom prst="rect">
            <a:avLst/>
          </a:prstGeom>
          <a:solidFill>
            <a:srgbClr val="F8F9FA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3995928"/>
            <a:ext cx="91440" cy="438912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" y="39959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Resolution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920240" y="399592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12-bit ADC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0" y="1143000"/>
            <a:ext cx="5760720" cy="34747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0" y="114300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Comparison vs. Commercial IEDs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0" y="1527048"/>
            <a:ext cx="5760720" cy="713232"/>
          </a:xfrm>
          <a:prstGeom prst="rect">
            <a:avLst/>
          </a:prstGeom>
          <a:solidFill>
            <a:srgbClr val="F8F9FA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 SIMOCODE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35040" y="15727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₹3,00,000+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291840" y="1911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Edge-AI, cloud needed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0" y="2304288"/>
            <a:ext cx="5760720" cy="713232"/>
          </a:xfrm>
          <a:prstGeom prst="rect">
            <a:avLst/>
          </a:prstGeom>
          <a:solidFill>
            <a:srgbClr val="F8F9FA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2350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Schneider TeSys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035040" y="23500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₹1,50,000+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291840" y="26883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adaptive baseline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00400" y="3081528"/>
            <a:ext cx="5760720" cy="713232"/>
          </a:xfrm>
          <a:prstGeom prst="rect">
            <a:avLst/>
          </a:prstGeom>
          <a:solidFill>
            <a:srgbClr val="F8F9FA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0" y="3127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 UMC100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035040" y="3127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₹80,000+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291840" y="34655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self-healing logic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200400" y="3858768"/>
            <a:ext cx="5760720" cy="713232"/>
          </a:xfrm>
          <a:prstGeom prst="rect">
            <a:avLst/>
          </a:prstGeom>
          <a:solidFill>
            <a:srgbClr val="E8F5E9"/>
          </a:solidFill>
          <a:ln w="31750">
            <a:solidFill>
              <a:srgbClr val="1B5E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39044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System (ESP32)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035040" y="39044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₹2,000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291840" y="4242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features, 100% edge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200400" y="466344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saving: 98–99% vs. commercial alternatives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system creates real-world impact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Edge-AI Motor Fault Detection &amp; Self-Healing System  |  BECE309L  |  VIT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143000"/>
            <a:ext cx="2788920" cy="32918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14300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490472"/>
            <a:ext cx="278892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1581912"/>
            <a:ext cx="182880" cy="18288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563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 Spindle Motors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" y="1911096"/>
            <a:ext cx="182880" cy="18288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892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Conveyor Drives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" y="2240280"/>
            <a:ext cx="182880" cy="18288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221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Compressors &amp; Pumps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" y="2569464"/>
            <a:ext cx="182880" cy="18288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Tower Fans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4680" y="1143000"/>
            <a:ext cx="2788920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3154680" y="114300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Buildings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1490472"/>
            <a:ext cx="278892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64408" y="1581912"/>
            <a:ext cx="182880" cy="1828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1563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 Fan Coil Units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64408" y="1911096"/>
            <a:ext cx="182880" cy="1828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1892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 Drives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64408" y="2240280"/>
            <a:ext cx="182880" cy="1828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2221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Pumping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64408" y="2569464"/>
            <a:ext cx="182880" cy="1828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3520440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Storage Compressors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1143000"/>
            <a:ext cx="2788920" cy="32918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114300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1490472"/>
            <a:ext cx="278892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1581912"/>
            <a:ext cx="182880" cy="182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1563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Irrigation Pump Motors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36208" y="1911096"/>
            <a:ext cx="182880" cy="182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1892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 Mill Drives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36208" y="2240280"/>
            <a:ext cx="182880" cy="182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2221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Dryer Fans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36208" y="2569464"/>
            <a:ext cx="182880" cy="182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auto-restart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82880" y="3017520"/>
            <a:ext cx="2788920" cy="32918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2" name="Text 40"/>
          <p:cNvSpPr/>
          <p:nvPr/>
        </p:nvSpPr>
        <p:spPr>
          <a:xfrm>
            <a:off x="182880" y="30175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EDU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82880" y="3364992"/>
            <a:ext cx="278892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" y="3456432"/>
            <a:ext cx="182880" cy="1828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3438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Lab Testbed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92608" y="3785616"/>
            <a:ext cx="182880" cy="1828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Fault Research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92608" y="4114800"/>
            <a:ext cx="182880" cy="1828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Prototype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92608" y="4443984"/>
            <a:ext cx="182880" cy="1828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" y="4425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Teaching Kit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154680" y="3017520"/>
            <a:ext cx="2788920" cy="329184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53" name="Text 51"/>
          <p:cNvSpPr/>
          <p:nvPr/>
        </p:nvSpPr>
        <p:spPr>
          <a:xfrm>
            <a:off x="3154680" y="30175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&amp; Renewables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154680" y="3364992"/>
            <a:ext cx="278892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64408" y="3456432"/>
            <a:ext cx="182880" cy="1828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56" name="Text 54"/>
          <p:cNvSpPr/>
          <p:nvPr/>
        </p:nvSpPr>
        <p:spPr>
          <a:xfrm>
            <a:off x="3520440" y="3438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Traction Motors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264408" y="3785616"/>
            <a:ext cx="182880" cy="1828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58" name="Text 56"/>
          <p:cNvSpPr/>
          <p:nvPr/>
        </p:nvSpPr>
        <p:spPr>
          <a:xfrm>
            <a:off x="3520440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Turbine Bearings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264408" y="4114800"/>
            <a:ext cx="182880" cy="1828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60" name="Text 58"/>
          <p:cNvSpPr/>
          <p:nvPr/>
        </p:nvSpPr>
        <p:spPr>
          <a:xfrm>
            <a:off x="352044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Tracker Drives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264408" y="4443984"/>
            <a:ext cx="182880" cy="1828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62" name="Text 60"/>
          <p:cNvSpPr/>
          <p:nvPr/>
        </p:nvSpPr>
        <p:spPr>
          <a:xfrm>
            <a:off x="3520440" y="4425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Cooling Fans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126480" y="3017520"/>
            <a:ext cx="2788920" cy="329184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64" name="Text 62"/>
          <p:cNvSpPr/>
          <p:nvPr/>
        </p:nvSpPr>
        <p:spPr>
          <a:xfrm>
            <a:off x="6126480" y="30175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Govt / Defense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126480" y="3364992"/>
            <a:ext cx="278892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36208" y="3456432"/>
            <a:ext cx="182880" cy="182880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67" name="Text 65"/>
          <p:cNvSpPr/>
          <p:nvPr/>
        </p:nvSpPr>
        <p:spPr>
          <a:xfrm>
            <a:off x="6492240" y="3438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Motor Systems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236208" y="3785616"/>
            <a:ext cx="182880" cy="182880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69" name="Text 67"/>
          <p:cNvSpPr/>
          <p:nvPr/>
        </p:nvSpPr>
        <p:spPr>
          <a:xfrm>
            <a:off x="6492240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Naval Pump Drives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236208" y="4114800"/>
            <a:ext cx="182880" cy="182880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71" name="Text 69"/>
          <p:cNvSpPr/>
          <p:nvPr/>
        </p:nvSpPr>
        <p:spPr>
          <a:xfrm>
            <a:off x="649224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Traction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236208" y="4443984"/>
            <a:ext cx="182880" cy="182880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73" name="Text 71"/>
          <p:cNvSpPr/>
          <p:nvPr/>
        </p:nvSpPr>
        <p:spPr>
          <a:xfrm>
            <a:off x="6492240" y="4425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Grid Motors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Mapping — Sustainable Development Goals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2030 Agenda: 4 SDGs directly supported by this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Edge-AI Motor Fault Detection &amp; Self-Healing System  |  BECE309L  |  VIT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901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143000"/>
            <a:ext cx="4206240" cy="1691640"/>
          </a:xfrm>
          <a:prstGeom prst="rect">
            <a:avLst/>
          </a:prstGeom>
          <a:solidFill>
            <a:srgbClr val="F8F9FA"/>
          </a:solidFill>
          <a:ln w="31750">
            <a:solidFill>
              <a:srgbClr val="F9A1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143000"/>
            <a:ext cx="914400" cy="1691640"/>
          </a:xfrm>
          <a:prstGeom prst="rect">
            <a:avLst/>
          </a:prstGeom>
          <a:solidFill>
            <a:srgbClr val="F9A12E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1143000"/>
            <a:ext cx="914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&amp; Clean Energy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691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efficiency + predictive maintenance reduces industrial electricity waste by 2-8% per unit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4206240" cy="1691640"/>
          </a:xfrm>
          <a:prstGeom prst="rect">
            <a:avLst/>
          </a:prstGeom>
          <a:solidFill>
            <a:srgbClr val="F8F9FA"/>
          </a:solidFill>
          <a:ln w="31750">
            <a:solidFill>
              <a:srgbClr val="F36D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143000"/>
            <a:ext cx="914400" cy="1691640"/>
          </a:xfrm>
          <a:prstGeom prst="rect">
            <a:avLst/>
          </a:prstGeom>
          <a:solidFill>
            <a:srgbClr val="F36D25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143000"/>
            <a:ext cx="914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2356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Industry, Innovation &amp; Infrastructure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560" y="1691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Edge-AI innovation, indigenous patent filing, reduces industry dependence on imported IEDs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2971800"/>
            <a:ext cx="4206240" cy="1691640"/>
          </a:xfrm>
          <a:prstGeom prst="rect">
            <a:avLst/>
          </a:prstGeom>
          <a:solidFill>
            <a:srgbClr val="F8F9FA"/>
          </a:solidFill>
          <a:ln w="31750">
            <a:solidFill>
              <a:srgbClr val="F99D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2971800"/>
            <a:ext cx="914400" cy="1691640"/>
          </a:xfrm>
          <a:prstGeom prst="rect">
            <a:avLst/>
          </a:prstGeom>
          <a:solidFill>
            <a:srgbClr val="F99D26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2971800"/>
            <a:ext cx="914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Cities &amp; Communities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520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infrastructure protection: elevators, HVAC, water; digital maintenance records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2971800"/>
            <a:ext cx="4206240" cy="1691640"/>
          </a:xfrm>
          <a:prstGeom prst="rect">
            <a:avLst/>
          </a:prstGeom>
          <a:solidFill>
            <a:srgbClr val="F8F9FA"/>
          </a:solidFill>
          <a:ln w="31750">
            <a:solidFill>
              <a:srgbClr val="BE8B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971800"/>
            <a:ext cx="914400" cy="1691640"/>
          </a:xfrm>
          <a:prstGeom prst="rect">
            <a:avLst/>
          </a:prstGeom>
          <a:solidFill>
            <a:srgbClr val="BE8B2E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2971800"/>
            <a:ext cx="914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2356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Consumption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3520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motor lifespan, prevents premature e-waste, supports circular economy goals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accuracy: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100584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ensemble with 100% recall on all 7 fault types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41148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916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patent claims: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173736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implemented and verified in firmware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41148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423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edge-AI: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246888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cloud dependency — 0.8ms inference on ESP32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1148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1546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Self-healing: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320040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Severity-graduated auto-restart with EEPROM forensic log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41148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8862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₹2,000 BOM: 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393192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1–2% of commercial IED cost — accessible to SMEs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Work: TFLite Autoencoder deployment  ·  Wi-Fi telemetry  ·  FFT vibration spectrum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1938528"/>
            <a:ext cx="548640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57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How does the system handle sensor failure?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Sensor validation checks reject out-of-range readings; each sensor's fault detection is independent.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Can this be deployed on a real industrial motor?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Yes. Replace synthetic dataset with real motor data from the same GPIO pins; retrain in Colab and re-flash.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What makes this patentable over prior art?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The specific combination of ESP32 + 4-sensor fusion + edge OneClassSVM + EMA adaptive baseline + EEPROM log + graduated self-healing is not described in prior art.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BECE309L — AI &amp; ML Course Project  |  VIT University  |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2015</Words>
  <Application>Microsoft Office PowerPoint</Application>
  <PresentationFormat>On-screen Show (16:9)</PresentationFormat>
  <Paragraphs>478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Edge-AI Motor Fault Detection System</dc:title>
  <dc:subject>PptxGenJS Presentation</dc:subject>
  <dc:creator>VIT University</dc:creator>
  <cp:lastModifiedBy>Kesihambigai S</cp:lastModifiedBy>
  <cp:revision>3</cp:revision>
  <dcterms:created xsi:type="dcterms:W3CDTF">2026-04-15T13:34:38Z</dcterms:created>
  <dcterms:modified xsi:type="dcterms:W3CDTF">2026-04-17T03:48:06Z</dcterms:modified>
</cp:coreProperties>
</file>